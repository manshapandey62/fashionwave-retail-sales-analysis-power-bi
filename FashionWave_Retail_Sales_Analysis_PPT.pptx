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/>
            </a:pPr>
            <a:r>
              <a:rPr lang="en-IN"/>
              <a:t>Sales by Category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(₹M)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Women</c:v>
                </c:pt>
                <c:pt idx="1">
                  <c:v>Men</c:v>
                </c:pt>
                <c:pt idx="2">
                  <c:v>Accessories</c:v>
                </c:pt>
                <c:pt idx="3">
                  <c:v>Kids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13.095876650000001</c:v>
                </c:pt>
                <c:pt idx="1">
                  <c:v>11.098609830000001</c:v>
                </c:pt>
                <c:pt idx="2">
                  <c:v>9.3744318399999997</c:v>
                </c:pt>
                <c:pt idx="3">
                  <c:v>6.5757849000000004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75-4D77-92A0-9BF34B1FB9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/>
            </a:pPr>
            <a:r>
              <a:rPr lang="en-IN"/>
              <a:t>Profit by Category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Profit (₹M)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Women</c:v>
                </c:pt>
                <c:pt idx="1">
                  <c:v>Men</c:v>
                </c:pt>
                <c:pt idx="2">
                  <c:v>Accessories</c:v>
                </c:pt>
                <c:pt idx="3">
                  <c:v>Kids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4.1722002700000003</c:v>
                </c:pt>
                <c:pt idx="1">
                  <c:v>3.55425258</c:v>
                </c:pt>
                <c:pt idx="2">
                  <c:v>2.9931609700000004</c:v>
                </c:pt>
                <c:pt idx="3">
                  <c:v>2.0541670600000002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5E-4627-A06F-B610D5778F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/>
            </a:pPr>
            <a:r>
              <a:rPr lang="en-IN"/>
              <a:t>Top Products by Profit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Profit (₹M)</c:v>
                </c:pt>
              </c:strCache>
            </c:strRef>
          </c:tx>
          <c:invertIfNegative val="1"/>
          <c:cat>
            <c:strRef>
              <c:f>Sheet1!$A$2:$A$8</c:f>
              <c:strCache>
                <c:ptCount val="7"/>
                <c:pt idx="0">
                  <c:v>Jeans</c:v>
                </c:pt>
                <c:pt idx="1">
                  <c:v>Watches</c:v>
                </c:pt>
                <c:pt idx="2">
                  <c:v>Shoes</c:v>
                </c:pt>
                <c:pt idx="3">
                  <c:v>Ethnic Wear</c:v>
                </c:pt>
                <c:pt idx="4">
                  <c:v>Dresses</c:v>
                </c:pt>
                <c:pt idx="5">
                  <c:v>Trousers</c:v>
                </c:pt>
                <c:pt idx="6">
                  <c:v>Bags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2.1982118599999998</c:v>
                </c:pt>
                <c:pt idx="1">
                  <c:v>1.5992634399999999</c:v>
                </c:pt>
                <c:pt idx="2">
                  <c:v>1.4704114799999999</c:v>
                </c:pt>
                <c:pt idx="3">
                  <c:v>1.3996788999999998</c:v>
                </c:pt>
                <c:pt idx="4">
                  <c:v>1.1269354899999999</c:v>
                </c:pt>
                <c:pt idx="5">
                  <c:v>0.98133092</c:v>
                </c:pt>
                <c:pt idx="6">
                  <c:v>0.9215093299999999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6F-47EB-BEF7-58DF9B5D06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/>
            </a:pPr>
            <a:r>
              <a:rPr lang="en-IN"/>
              <a:t>Monthly Sales 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 (₹M)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3.5885959300000003</c:v>
                </c:pt>
                <c:pt idx="1">
                  <c:v>2.9906557400000002</c:v>
                </c:pt>
                <c:pt idx="2">
                  <c:v>3.4974268900000003</c:v>
                </c:pt>
                <c:pt idx="3">
                  <c:v>3.2245256800000002</c:v>
                </c:pt>
                <c:pt idx="4">
                  <c:v>3.4263743600000001</c:v>
                </c:pt>
                <c:pt idx="5">
                  <c:v>3.3507960699999999</c:v>
                </c:pt>
                <c:pt idx="6">
                  <c:v>3.6091962</c:v>
                </c:pt>
                <c:pt idx="7">
                  <c:v>3.2774926099999999</c:v>
                </c:pt>
                <c:pt idx="8">
                  <c:v>3.2665317200000001</c:v>
                </c:pt>
                <c:pt idx="9">
                  <c:v>3.3938380600000002</c:v>
                </c:pt>
                <c:pt idx="10">
                  <c:v>3.35883179</c:v>
                </c:pt>
                <c:pt idx="11">
                  <c:v>3.1604381699999999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123-4F85-B9AB-C7F59D458A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/>
            </a:pPr>
            <a:r>
              <a:rPr lang="en-IN"/>
              <a:t>Sales Split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 (₹M)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28.847441239999998</c:v>
                </c:pt>
                <c:pt idx="1">
                  <c:v>11.29726198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EB-4818-952B-BD41E0E751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/>
            </a:pPr>
            <a:r>
              <a:rPr lang="en-IN"/>
              <a:t>Top Cities by Sales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 (₹M)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Bhopal</c:v>
                </c:pt>
                <c:pt idx="1">
                  <c:v>Ranchi</c:v>
                </c:pt>
                <c:pt idx="2">
                  <c:v>Nagpur</c:v>
                </c:pt>
                <c:pt idx="3">
                  <c:v>Delhi</c:v>
                </c:pt>
                <c:pt idx="4">
                  <c:v>Pune</c:v>
                </c:pt>
                <c:pt idx="5">
                  <c:v>Gurugram</c:v>
                </c:pt>
                <c:pt idx="6">
                  <c:v>Kochi</c:v>
                </c:pt>
                <c:pt idx="7">
                  <c:v>Bengaluru</c:v>
                </c:pt>
                <c:pt idx="8">
                  <c:v>Surat</c:v>
                </c:pt>
                <c:pt idx="9">
                  <c:v>Hyderabad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1.77842499</c:v>
                </c:pt>
                <c:pt idx="1">
                  <c:v>1.7684156000000002</c:v>
                </c:pt>
                <c:pt idx="2">
                  <c:v>1.74295515</c:v>
                </c:pt>
                <c:pt idx="3">
                  <c:v>1.71247076</c:v>
                </c:pt>
                <c:pt idx="4">
                  <c:v>1.70742612</c:v>
                </c:pt>
                <c:pt idx="5">
                  <c:v>1.7011863</c:v>
                </c:pt>
                <c:pt idx="6">
                  <c:v>1.69632524</c:v>
                </c:pt>
                <c:pt idx="7">
                  <c:v>1.6831094900000001</c:v>
                </c:pt>
                <c:pt idx="8">
                  <c:v>1.67841521</c:v>
                </c:pt>
                <c:pt idx="9">
                  <c:v>1.6694105400000001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F3-4A9C-A8A3-D48DB87151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/>
            </a:pPr>
            <a:r>
              <a:rPr lang="en-US"/>
              <a:t>Profit Margin by Discount Tier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%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No Discount</c:v>
                </c:pt>
                <c:pt idx="1">
                  <c:v>1–15%</c:v>
                </c:pt>
                <c:pt idx="2">
                  <c:v>16–25%</c:v>
                </c:pt>
                <c:pt idx="3">
                  <c:v>26–30%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38.993285960767025</c:v>
                </c:pt>
                <c:pt idx="1">
                  <c:v>32.171315340635473</c:v>
                </c:pt>
                <c:pt idx="2">
                  <c:v>21.680067441722116</c:v>
                </c:pt>
                <c:pt idx="3">
                  <c:v>13.899258642997209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82-41A3-9338-92E7F1EB2C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/>
            </a:pPr>
            <a:r>
              <a:rPr lang="en-IN"/>
              <a:t>Sales by Discount Tier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 (₹M)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No Discount</c:v>
                </c:pt>
                <c:pt idx="1">
                  <c:v>1–15%</c:v>
                </c:pt>
                <c:pt idx="2">
                  <c:v>16–25%</c:v>
                </c:pt>
                <c:pt idx="3">
                  <c:v>26–30%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9.95136574</c:v>
                </c:pt>
                <c:pt idx="1">
                  <c:v>22.850573600000001</c:v>
                </c:pt>
                <c:pt idx="2">
                  <c:v>6.7023436799999994</c:v>
                </c:pt>
                <c:pt idx="3">
                  <c:v>0.6404202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F67-41E0-B88F-544253B788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4023360" cy="502920"/>
          </a:xfrm>
          <a:prstGeom prst="rect">
            <a:avLst/>
          </a:prstGeom>
          <a:solidFill>
            <a:srgbClr val="503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023360" y="6355080"/>
            <a:ext cx="4023360" cy="502920"/>
          </a:xfrm>
          <a:prstGeom prst="rect">
            <a:avLst/>
          </a:prstGeom>
          <a:solidFill>
            <a:srgbClr val="298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46720" y="6355080"/>
            <a:ext cx="4142232" cy="502920"/>
          </a:xfrm>
          <a:prstGeom prst="rect">
            <a:avLst/>
          </a:prstGeom>
          <a:solidFill>
            <a:srgbClr val="40B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FASHIONWAVE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40BEE0"/>
                </a:solidFill>
              </a:defRPr>
            </a:pPr>
            <a:r>
              <a:t>Retail Store Sales Analysis</a:t>
            </a:r>
          </a:p>
          <a:p>
            <a:pPr>
              <a:defRPr sz="1600">
                <a:solidFill>
                  <a:srgbClr val="D2DCEB"/>
                </a:solidFill>
              </a:defRPr>
            </a:pPr>
            <a:r>
              <a:t>Business Intelligence Report | Power BI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794760"/>
            <a:ext cx="1993392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3794760"/>
            <a:ext cx="1993392" cy="128016"/>
          </a:xfrm>
          <a:prstGeom prst="rect">
            <a:avLst/>
          </a:prstGeom>
          <a:solidFill>
            <a:srgbClr val="503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3995928"/>
            <a:ext cx="17190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92048"/>
                </a:solidFill>
              </a:defRPr>
            </a:pPr>
            <a:r>
              <a:t>Total 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297680"/>
            <a:ext cx="17190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B37"/>
                </a:solidFill>
              </a:defRPr>
            </a:pPr>
            <a:r>
              <a:t>₹40.14M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3794760"/>
            <a:ext cx="1993392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26080" y="3794760"/>
            <a:ext cx="1993392" cy="128016"/>
          </a:xfrm>
          <a:prstGeom prst="rect">
            <a:avLst/>
          </a:prstGeom>
          <a:solidFill>
            <a:srgbClr val="298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3995928"/>
            <a:ext cx="17190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92048"/>
                </a:solidFill>
              </a:defRPr>
            </a:pPr>
            <a:r>
              <a:t>Total Profit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297680"/>
            <a:ext cx="17190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B37"/>
                </a:solidFill>
              </a:defRPr>
            </a:pPr>
            <a:r>
              <a:t>₹12.77M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8928" y="3794760"/>
            <a:ext cx="1993392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38928" y="3794760"/>
            <a:ext cx="1993392" cy="128016"/>
          </a:xfrm>
          <a:prstGeom prst="rect">
            <a:avLst/>
          </a:prstGeom>
          <a:solidFill>
            <a:srgbClr val="40B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76088" y="3995928"/>
            <a:ext cx="17190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92048"/>
                </a:solidFill>
              </a:defRPr>
            </a:pPr>
            <a:r>
              <a:t>Profit Margin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8" y="4297680"/>
            <a:ext cx="17190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B37"/>
                </a:solidFill>
              </a:defRPr>
            </a:pPr>
            <a:r>
              <a:t>31.82%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51775" y="3794760"/>
            <a:ext cx="1993392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51775" y="3794760"/>
            <a:ext cx="1993392" cy="128016"/>
          </a:xfrm>
          <a:prstGeom prst="rect">
            <a:avLst/>
          </a:prstGeom>
          <a:solidFill>
            <a:srgbClr val="503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88936" y="3995928"/>
            <a:ext cx="17190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92048"/>
                </a:solidFill>
              </a:defRPr>
            </a:pPr>
            <a:r>
              <a:t>Units Sold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936" y="4297680"/>
            <a:ext cx="17190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B37"/>
                </a:solidFill>
              </a:defRPr>
            </a:pPr>
            <a:r>
              <a:t>30K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64624" y="3794760"/>
            <a:ext cx="1993392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64624" y="3794760"/>
            <a:ext cx="1993392" cy="128016"/>
          </a:xfrm>
          <a:prstGeom prst="rect">
            <a:avLst/>
          </a:prstGeom>
          <a:solidFill>
            <a:srgbClr val="298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01784" y="3995928"/>
            <a:ext cx="17190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92048"/>
                </a:solidFill>
              </a:defRPr>
            </a:pPr>
            <a:r>
              <a:t>AOV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1784" y="4297680"/>
            <a:ext cx="17190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B37"/>
                </a:solidFill>
              </a:defRPr>
            </a:pPr>
            <a:r>
              <a:t>₹4.01K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7150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DD7E6"/>
                </a:solidFill>
              </a:defRPr>
            </a:pPr>
            <a:r>
              <a:t>Prepared from the FashionWave Power BI dashboard and sales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9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1. Business Scenario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58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</a:defRPr>
            </a:pPr>
            <a:r>
              <a:t>Retail chain with 50 stores across India | Focus: sales, profitability, weekends and discounting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5486400" cy="4297680"/>
          </a:xfrm>
          <a:prstGeom prst="roundRect">
            <a:avLst/>
          </a:prstGeom>
          <a:solidFill>
            <a:srgbClr val="F2F6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500" b="1">
                <a:solidFill>
                  <a:srgbClr val="192048"/>
                </a:solidFill>
              </a:defRPr>
            </a:pPr>
            <a:r>
              <a:t>Business Scenario</a:t>
            </a:r>
          </a:p>
          <a:p>
            <a:pPr>
              <a:spcAft>
                <a:spcPts val="600"/>
              </a:spcAft>
              <a:defRPr sz="1400">
                <a:solidFill>
                  <a:srgbClr val="232B37"/>
                </a:solidFill>
              </a:defRPr>
            </a:pPr>
            <a:r>
              <a:t>• FashionWave is experiencing weaker weekend sales compared with weekdays.</a:t>
            </a:r>
          </a:p>
          <a:p>
            <a:pPr>
              <a:spcAft>
                <a:spcPts val="600"/>
              </a:spcAft>
              <a:defRPr sz="1400">
                <a:solidFill>
                  <a:srgbClr val="232B37"/>
                </a:solidFill>
              </a:defRPr>
            </a:pPr>
            <a:r>
              <a:t>• Management needs to understand category, product, store and city performance.</a:t>
            </a:r>
          </a:p>
          <a:p>
            <a:pPr>
              <a:spcAft>
                <a:spcPts val="600"/>
              </a:spcAft>
              <a:defRPr sz="1400">
                <a:solidFill>
                  <a:srgbClr val="232B37"/>
                </a:solidFill>
              </a:defRPr>
            </a:pPr>
            <a:r>
              <a:t>• Discounting must be evaluated for its effect on profit margins.</a:t>
            </a:r>
          </a:p>
          <a:p>
            <a:pPr>
              <a:spcAft>
                <a:spcPts val="600"/>
              </a:spcAft>
              <a:defRPr sz="1400">
                <a:solidFill>
                  <a:srgbClr val="232B37"/>
                </a:solidFill>
              </a:defRPr>
            </a:pPr>
            <a:r>
              <a:t>• The analysis uses the available FashionWave transaction dataset only.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143000"/>
            <a:ext cx="5212080" cy="4297680"/>
          </a:xfrm>
          <a:prstGeom prst="roundRect">
            <a:avLst/>
          </a:prstGeom>
          <a:solidFill>
            <a:srgbClr val="F2F6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500" b="1">
                <a:solidFill>
                  <a:srgbClr val="192048"/>
                </a:solidFill>
              </a:defRPr>
            </a:pPr>
            <a:r>
              <a:t>Business Objectives</a:t>
            </a:r>
          </a:p>
          <a:p>
            <a:pPr>
              <a:spcAft>
                <a:spcPts val="600"/>
              </a:spcAft>
              <a:defRPr sz="1400">
                <a:solidFill>
                  <a:srgbClr val="232B37"/>
                </a:solidFill>
              </a:defRPr>
            </a:pPr>
            <a:r>
              <a:t>• Increase weekend sales by 15% in the next quarter.</a:t>
            </a:r>
          </a:p>
          <a:p>
            <a:pPr>
              <a:spcAft>
                <a:spcPts val="600"/>
              </a:spcAft>
              <a:defRPr sz="1400">
                <a:solidFill>
                  <a:srgbClr val="232B37"/>
                </a:solidFill>
              </a:defRPr>
            </a:pPr>
            <a:r>
              <a:t>• Identify high- and low-performing product categories and products.</a:t>
            </a:r>
          </a:p>
          <a:p>
            <a:pPr>
              <a:spcAft>
                <a:spcPts val="600"/>
              </a:spcAft>
              <a:defRPr sz="1400">
                <a:solidFill>
                  <a:srgbClr val="232B37"/>
                </a:solidFill>
              </a:defRPr>
            </a:pPr>
            <a:r>
              <a:t>• Improve product-level profitability.</a:t>
            </a:r>
          </a:p>
          <a:p>
            <a:pPr>
              <a:spcAft>
                <a:spcPts val="600"/>
              </a:spcAft>
              <a:defRPr sz="1400">
                <a:solidFill>
                  <a:srgbClr val="232B37"/>
                </a:solidFill>
              </a:defRPr>
            </a:pPr>
            <a:r>
              <a:t>• Develop data-driven discount strategies.</a:t>
            </a:r>
          </a:p>
          <a:p>
            <a:pPr>
              <a:spcAft>
                <a:spcPts val="600"/>
              </a:spcAft>
              <a:defRPr sz="1400">
                <a:solidFill>
                  <a:srgbClr val="232B37"/>
                </a:solidFill>
              </a:defRPr>
            </a:pPr>
            <a:r>
              <a:t>• Track performance by store, city and time period.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653796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FashionWave | Retail Store Sales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37D8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9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2. Executive Dashboard — KPI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58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</a:defRPr>
            </a:pPr>
            <a:r>
              <a:t>The values below match the user's Power BI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2103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2103120" cy="128016"/>
          </a:xfrm>
          <a:prstGeom prst="rect">
            <a:avLst/>
          </a:prstGeom>
          <a:solidFill>
            <a:srgbClr val="503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18287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92048"/>
                </a:solidFill>
              </a:defRPr>
            </a:pPr>
            <a:r>
              <a:t>Total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182879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B37"/>
                </a:solidFill>
              </a:defRPr>
            </a:pPr>
            <a:r>
              <a:t>₹40.14M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182879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Net sales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097280"/>
            <a:ext cx="2103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80360" y="1097280"/>
            <a:ext cx="2103120" cy="128016"/>
          </a:xfrm>
          <a:prstGeom prst="rect">
            <a:avLst/>
          </a:prstGeom>
          <a:solidFill>
            <a:srgbClr val="298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17520" y="1298448"/>
            <a:ext cx="18287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92048"/>
                </a:solidFill>
              </a:defRPr>
            </a:pPr>
            <a:r>
              <a:t>Total 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600200"/>
            <a:ext cx="182879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B37"/>
                </a:solidFill>
              </a:defRPr>
            </a:pPr>
            <a:r>
              <a:t>₹12.77M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121408"/>
            <a:ext cx="182879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Profit generated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79" y="1097280"/>
            <a:ext cx="2103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212079" y="1097280"/>
            <a:ext cx="2103120" cy="128016"/>
          </a:xfrm>
          <a:prstGeom prst="rect">
            <a:avLst/>
          </a:prstGeom>
          <a:solidFill>
            <a:srgbClr val="40B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49240" y="1298448"/>
            <a:ext cx="18287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92048"/>
                </a:solidFill>
              </a:defRPr>
            </a:pPr>
            <a:r>
              <a:t>Profit Margin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1600200"/>
            <a:ext cx="182879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B37"/>
                </a:solidFill>
              </a:defRPr>
            </a:pPr>
            <a:r>
              <a:t>31.82%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121408"/>
            <a:ext cx="182879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Profit / Net Sales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1097280"/>
            <a:ext cx="2103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543800" y="1097280"/>
            <a:ext cx="2103120" cy="128016"/>
          </a:xfrm>
          <a:prstGeom prst="rect">
            <a:avLst/>
          </a:prstGeom>
          <a:solidFill>
            <a:srgbClr val="503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0" y="1298448"/>
            <a:ext cx="18287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92048"/>
                </a:solidFill>
              </a:defRPr>
            </a:pPr>
            <a:r>
              <a:t>Units Sold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1600200"/>
            <a:ext cx="182879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B37"/>
                </a:solidFill>
              </a:defRPr>
            </a:pPr>
            <a:r>
              <a:t>30K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121408"/>
            <a:ext cx="182879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Units sold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19" y="1097280"/>
            <a:ext cx="2103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875519" y="1097280"/>
            <a:ext cx="2103120" cy="128016"/>
          </a:xfrm>
          <a:prstGeom prst="rect">
            <a:avLst/>
          </a:prstGeom>
          <a:solidFill>
            <a:srgbClr val="298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12680" y="1298448"/>
            <a:ext cx="182879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92048"/>
                </a:solidFill>
              </a:defRPr>
            </a:pPr>
            <a:r>
              <a:t>AOV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1600200"/>
            <a:ext cx="182879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B37"/>
                </a:solidFill>
              </a:defRPr>
            </a:pPr>
            <a:r>
              <a:t>₹4.01K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2121408"/>
            <a:ext cx="182879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Average order value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0352" y="653796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FashionWave | Retail Store Sales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37D8C"/>
                </a:solidFill>
              </a:defRPr>
            </a:pPr>
            <a:r>
              <a:t>3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7BCD0BB-1C52-29B7-3B47-BD27D987E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29" y="2630500"/>
            <a:ext cx="10612331" cy="40354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9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3. Category &amp; Product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58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</a:defRPr>
            </a:pPr>
            <a:r>
              <a:t>Sales and profit concentration by category, with product-level profitability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1143000"/>
          <a:ext cx="53949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217920" y="1143000"/>
          <a:ext cx="53949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3703320"/>
          <a:ext cx="56692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37960" y="3703320"/>
            <a:ext cx="4983480" cy="2331720"/>
          </a:xfrm>
          <a:prstGeom prst="roundRect">
            <a:avLst/>
          </a:prstGeom>
          <a:solidFill>
            <a:srgbClr val="F2F6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250" b="1">
                <a:solidFill>
                  <a:srgbClr val="192048"/>
                </a:solidFill>
              </a:defRPr>
            </a:pPr>
            <a:r>
              <a:t>Dashboard Insights</a:t>
            </a:r>
          </a:p>
          <a:p>
            <a:pPr>
              <a:spcAft>
                <a:spcPts val="600"/>
              </a:spcAft>
              <a:defRPr sz="1150">
                <a:solidFill>
                  <a:srgbClr val="232B37"/>
                </a:solidFill>
              </a:defRPr>
            </a:pPr>
            <a:r>
              <a:t>• Women leads sales at ₹13.10M.</a:t>
            </a:r>
          </a:p>
          <a:p>
            <a:pPr>
              <a:spcAft>
                <a:spcPts val="600"/>
              </a:spcAft>
              <a:defRPr sz="1150">
                <a:solidFill>
                  <a:srgbClr val="232B37"/>
                </a:solidFill>
              </a:defRPr>
            </a:pPr>
            <a:r>
              <a:t>• Women also leads category profit at ₹4.17M.</a:t>
            </a:r>
          </a:p>
          <a:p>
            <a:pPr>
              <a:spcAft>
                <a:spcPts val="600"/>
              </a:spcAft>
              <a:defRPr sz="1150">
                <a:solidFill>
                  <a:srgbClr val="232B37"/>
                </a:solidFill>
              </a:defRPr>
            </a:pPr>
            <a:r>
              <a:t>• Kids has the lowest category sales at ₹6.58M.</a:t>
            </a:r>
          </a:p>
          <a:p>
            <a:pPr>
              <a:spcAft>
                <a:spcPts val="600"/>
              </a:spcAft>
              <a:defRPr sz="1150">
                <a:solidFill>
                  <a:srgbClr val="232B37"/>
                </a:solidFill>
              </a:defRPr>
            </a:pPr>
            <a:r>
              <a:t>• Jeans is the highest-profit product at ₹2.20M.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653796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FashionWave | Retail Store Sales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37D8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9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4. Time Trend &amp; Weekend vs Weekday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58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</a:defRPr>
            </a:pPr>
            <a:r>
              <a:t>Weekend performance is a central business challenge in the case study.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1143000"/>
          <a:ext cx="667512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43800" y="114300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543800" y="1143000"/>
            <a:ext cx="1965960" cy="128016"/>
          </a:xfrm>
          <a:prstGeom prst="rect">
            <a:avLst/>
          </a:prstGeom>
          <a:solidFill>
            <a:srgbClr val="503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1344168"/>
            <a:ext cx="16916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92048"/>
                </a:solidFill>
              </a:defRPr>
            </a:pPr>
            <a:r>
              <a:t>Weekday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645920"/>
            <a:ext cx="1691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B37"/>
                </a:solidFill>
              </a:defRPr>
            </a:pPr>
            <a:r>
              <a:t>₹28.85M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075688"/>
            <a:ext cx="16916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Dashboard KPI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114300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646920" y="1143000"/>
            <a:ext cx="1965960" cy="128016"/>
          </a:xfrm>
          <a:prstGeom prst="rect">
            <a:avLst/>
          </a:prstGeom>
          <a:solidFill>
            <a:srgbClr val="298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84080" y="1344168"/>
            <a:ext cx="16916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92048"/>
                </a:solidFill>
              </a:defRPr>
            </a:pPr>
            <a:r>
              <a:t>Weekend Sales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1645920"/>
            <a:ext cx="1691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B37"/>
                </a:solidFill>
              </a:defRPr>
            </a:pPr>
            <a:r>
              <a:t>₹11.30M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075688"/>
            <a:ext cx="16916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Dashboard KPI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260604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43800" y="2606040"/>
            <a:ext cx="1965960" cy="128016"/>
          </a:xfrm>
          <a:prstGeom prst="rect">
            <a:avLst/>
          </a:prstGeom>
          <a:solidFill>
            <a:srgbClr val="40B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0" y="2807208"/>
            <a:ext cx="16916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92048"/>
                </a:solidFill>
              </a:defRPr>
            </a:pPr>
            <a:r>
              <a:t>Weekend / Weekday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108960"/>
            <a:ext cx="1691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B37"/>
                </a:solidFill>
              </a:defRPr>
            </a:pPr>
            <a:r>
              <a:t>0.39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538728"/>
            <a:ext cx="16916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Sales ratio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46920" y="260604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646920" y="2606040"/>
            <a:ext cx="1965960" cy="128016"/>
          </a:xfrm>
          <a:prstGeom prst="rect">
            <a:avLst/>
          </a:prstGeom>
          <a:solidFill>
            <a:srgbClr val="503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84080" y="2807208"/>
            <a:ext cx="16916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92048"/>
                </a:solidFill>
              </a:defRPr>
            </a:pPr>
            <a:r>
              <a:t>Weekend Profit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108960"/>
            <a:ext cx="1691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B37"/>
                </a:solidFill>
              </a:defRPr>
            </a:pPr>
            <a:r>
              <a:t>₹3.57M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3538728"/>
            <a:ext cx="16916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Weekend profit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594360" y="4389120"/>
          <a:ext cx="530352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172200" y="4389120"/>
            <a:ext cx="544068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200" b="1">
                <a:solidFill>
                  <a:srgbClr val="192048"/>
                </a:solidFill>
              </a:defRPr>
            </a:pPr>
            <a:r>
              <a:t>Key Takeaways</a:t>
            </a:r>
          </a:p>
          <a:p>
            <a:pPr>
              <a:spcAft>
                <a:spcPts val="600"/>
              </a:spcAft>
              <a:defRPr sz="1100">
                <a:solidFill>
                  <a:srgbClr val="232B37"/>
                </a:solidFill>
              </a:defRPr>
            </a:pPr>
            <a:r>
              <a:t>• Weekend sales are 0.39× weekday sales.</a:t>
            </a:r>
          </a:p>
          <a:p>
            <a:pPr>
              <a:spcAft>
                <a:spcPts val="600"/>
              </a:spcAft>
              <a:defRPr sz="1100">
                <a:solidFill>
                  <a:srgbClr val="232B37"/>
                </a:solidFill>
              </a:defRPr>
            </a:pPr>
            <a:r>
              <a:t>• The dashboard shows a clear opportunity to improve weekend revenue.</a:t>
            </a:r>
          </a:p>
          <a:p>
            <a:pPr>
              <a:spcAft>
                <a:spcPts val="600"/>
              </a:spcAft>
              <a:defRPr sz="1100">
                <a:solidFill>
                  <a:srgbClr val="232B37"/>
                </a:solidFill>
              </a:defRPr>
            </a:pPr>
            <a:r>
              <a:t>• Monthly sales fluctuate across the year.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653796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FashionWave | Retail Store Sales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37D8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9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5. Store &amp; City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58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</a:defRPr>
            </a:pPr>
            <a:r>
              <a:t>Use store-level and city-level views to identify performance gaps.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97280"/>
            <a:ext cx="5303520" cy="384048"/>
          </a:xfrm>
          <a:prstGeom prst="roundRect">
            <a:avLst/>
          </a:prstGeom>
          <a:solidFill>
            <a:srgbClr val="503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Top 5 Stores by Sales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481328"/>
          <a:ext cx="5303519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7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Store</a:t>
                      </a:r>
                    </a:p>
                  </a:txBody>
                  <a:tcPr>
                    <a:solidFill>
                      <a:srgbClr val="1920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Net Sales</a:t>
                      </a:r>
                    </a:p>
                  </a:txBody>
                  <a:tcPr>
                    <a:solidFill>
                      <a:srgbClr val="192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B37"/>
                          </a:solidFill>
                        </a:defRPr>
                      </a:pPr>
                      <a:r>
                        <a:t>Store_15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B37"/>
                          </a:solidFill>
                        </a:defRPr>
                      </a:pPr>
                      <a:r>
                        <a:t>₹1.02M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B37"/>
                          </a:solidFill>
                        </a:defRPr>
                      </a:pPr>
                      <a:r>
                        <a:t>Store_48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B37"/>
                          </a:solidFill>
                        </a:defRPr>
                      </a:pPr>
                      <a:r>
                        <a:t>₹0.94M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B37"/>
                          </a:solidFill>
                        </a:defRPr>
                      </a:pPr>
                      <a:r>
                        <a:t>Store_13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B37"/>
                          </a:solidFill>
                        </a:defRPr>
                      </a:pPr>
                      <a:r>
                        <a:t>₹0.92M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B37"/>
                          </a:solidFill>
                        </a:defRPr>
                      </a:pPr>
                      <a:r>
                        <a:t>Store_17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B37"/>
                          </a:solidFill>
                        </a:defRPr>
                      </a:pPr>
                      <a:r>
                        <a:t>₹0.92M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B37"/>
                          </a:solidFill>
                        </a:defRPr>
                      </a:pPr>
                      <a:r>
                        <a:t>Store_14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B37"/>
                          </a:solidFill>
                        </a:defRPr>
                      </a:pPr>
                      <a:r>
                        <a:t>₹0.91M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94360" y="4069080"/>
            <a:ext cx="5303520" cy="384048"/>
          </a:xfrm>
          <a:prstGeom prst="roundRect">
            <a:avLst/>
          </a:prstGeom>
          <a:solidFill>
            <a:srgbClr val="503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Bottom 5 Stores by Sales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4453128"/>
          <a:ext cx="5303519" cy="1764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7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1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Store</a:t>
                      </a:r>
                    </a:p>
                  </a:txBody>
                  <a:tcPr>
                    <a:solidFill>
                      <a:srgbClr val="1920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Net Sales</a:t>
                      </a:r>
                    </a:p>
                  </a:txBody>
                  <a:tcPr>
                    <a:solidFill>
                      <a:srgbClr val="192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13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B37"/>
                          </a:solidFill>
                        </a:defRPr>
                      </a:pPr>
                      <a:r>
                        <a:t>Store_11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B37"/>
                          </a:solidFill>
                        </a:defRPr>
                      </a:pPr>
                      <a:r>
                        <a:t>₹0.55M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13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B37"/>
                          </a:solidFill>
                        </a:defRPr>
                      </a:pPr>
                      <a:r>
                        <a:t>Store_25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B37"/>
                          </a:solidFill>
                        </a:defRPr>
                      </a:pPr>
                      <a:r>
                        <a:t>₹0.64M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13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B37"/>
                          </a:solidFill>
                        </a:defRPr>
                      </a:pPr>
                      <a:r>
                        <a:t>Store_12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B37"/>
                          </a:solidFill>
                        </a:defRPr>
                      </a:pPr>
                      <a:r>
                        <a:t>₹0.65M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13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B37"/>
                          </a:solidFill>
                        </a:defRPr>
                      </a:pPr>
                      <a:r>
                        <a:t>Store_43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B37"/>
                          </a:solidFill>
                        </a:defRPr>
                      </a:pPr>
                      <a:r>
                        <a:t>₹0.65M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13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B37"/>
                          </a:solidFill>
                        </a:defRPr>
                      </a:pPr>
                      <a:r>
                        <a:t>Store_35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B37"/>
                          </a:solidFill>
                        </a:defRPr>
                      </a:pPr>
                      <a:r>
                        <a:t>₹0.69M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172200" y="1097280"/>
          <a:ext cx="53949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172200" y="4069080"/>
            <a:ext cx="5394960" cy="2148840"/>
          </a:xfrm>
          <a:prstGeom prst="roundRect">
            <a:avLst/>
          </a:prstGeom>
          <a:solidFill>
            <a:srgbClr val="F2F6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200" b="1">
                <a:solidFill>
                  <a:srgbClr val="192048"/>
                </a:solidFill>
              </a:defRPr>
            </a:pPr>
            <a:r>
              <a:t>Management View</a:t>
            </a:r>
          </a:p>
          <a:p>
            <a:pPr>
              <a:spcAft>
                <a:spcPts val="600"/>
              </a:spcAft>
              <a:defRPr sz="1100">
                <a:solidFill>
                  <a:srgbClr val="232B37"/>
                </a:solidFill>
              </a:defRPr>
            </a:pPr>
            <a:r>
              <a:t>• Store_15 is the highest-sales store at ₹1.02M.</a:t>
            </a:r>
          </a:p>
          <a:p>
            <a:pPr>
              <a:spcAft>
                <a:spcPts val="600"/>
              </a:spcAft>
              <a:defRPr sz="1100">
                <a:solidFill>
                  <a:srgbClr val="232B37"/>
                </a:solidFill>
              </a:defRPr>
            </a:pPr>
            <a:r>
              <a:t>• Store_11 is the lowest-sales store at ₹0.55M.</a:t>
            </a:r>
          </a:p>
          <a:p>
            <a:pPr>
              <a:spcAft>
                <a:spcPts val="600"/>
              </a:spcAft>
              <a:defRPr sz="1100">
                <a:solidFill>
                  <a:srgbClr val="232B37"/>
                </a:solidFill>
              </a:defRPr>
            </a:pPr>
            <a:r>
              <a:t>• Bhopal leads the city view at ₹1.78M.</a:t>
            </a:r>
          </a:p>
          <a:p>
            <a:pPr>
              <a:spcAft>
                <a:spcPts val="600"/>
              </a:spcAft>
              <a:defRPr sz="1100">
                <a:solidFill>
                  <a:srgbClr val="232B37"/>
                </a:solidFill>
              </a:defRPr>
            </a:pPr>
            <a:r>
              <a:t>• Use store gaps to guide targeted local promotions and assortment reviews.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653796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FashionWave | Retail Store Sales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37D8C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9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6. Discount Impact on Profitability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58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</a:defRPr>
            </a:pPr>
            <a:r>
              <a:t>The dashboard indicates that heavier discounting is associated with weaker profit margins.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6012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960120"/>
            <a:ext cx="2514600" cy="128016"/>
          </a:xfrm>
          <a:prstGeom prst="rect">
            <a:avLst/>
          </a:prstGeom>
          <a:solidFill>
            <a:srgbClr val="503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161288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92048"/>
                </a:solidFill>
              </a:defRPr>
            </a:pPr>
            <a:r>
              <a:t>Gross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B37"/>
                </a:solidFill>
              </a:defRPr>
            </a:pPr>
            <a:r>
              <a:t>₹44.80M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01367"/>
            <a:ext cx="2240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Before discounts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96012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10712" y="960120"/>
            <a:ext cx="2514600" cy="128016"/>
          </a:xfrm>
          <a:prstGeom prst="rect">
            <a:avLst/>
          </a:prstGeom>
          <a:solidFill>
            <a:srgbClr val="298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47872" y="1161288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92048"/>
                </a:solidFill>
              </a:defRPr>
            </a:pPr>
            <a:r>
              <a:t>Total Discount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146304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B37"/>
                </a:solidFill>
              </a:defRPr>
            </a:pPr>
            <a:r>
              <a:t>₹4.65M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1801367"/>
            <a:ext cx="2240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Discount value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96012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27064" y="960120"/>
            <a:ext cx="2514600" cy="128016"/>
          </a:xfrm>
          <a:prstGeom prst="rect">
            <a:avLst/>
          </a:prstGeom>
          <a:solidFill>
            <a:srgbClr val="40B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64224" y="1161288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92048"/>
                </a:solidFill>
              </a:defRPr>
            </a:pPr>
            <a:r>
              <a:t>Total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146304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B37"/>
                </a:solidFill>
              </a:defRPr>
            </a:pPr>
            <a:r>
              <a:t>₹12.77M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1801367"/>
            <a:ext cx="2240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Profit generated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43416" y="96012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43416" y="960120"/>
            <a:ext cx="2514600" cy="128016"/>
          </a:xfrm>
          <a:prstGeom prst="rect">
            <a:avLst/>
          </a:prstGeom>
          <a:solidFill>
            <a:srgbClr val="503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0576" y="1161288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92048"/>
                </a:solidFill>
              </a:defRPr>
            </a:pPr>
            <a:r>
              <a:t>Average Discount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1463040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2B37"/>
                </a:solidFill>
              </a:defRPr>
            </a:pPr>
            <a:r>
              <a:t>10.43%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1801367"/>
            <a:ext cx="2240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82"/>
                </a:solidFill>
              </a:defRPr>
            </a:pPr>
            <a:r>
              <a:t>Average discount rate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594360" y="2468880"/>
          <a:ext cx="557784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6355080" y="2468880"/>
          <a:ext cx="521208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594360" y="5623560"/>
            <a:ext cx="10972800" cy="685800"/>
          </a:xfrm>
          <a:prstGeom prst="roundRect">
            <a:avLst/>
          </a:prstGeom>
          <a:solidFill>
            <a:srgbClr val="F2F6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100" b="1">
                <a:solidFill>
                  <a:srgbClr val="192048"/>
                </a:solidFill>
              </a:defRPr>
            </a:pPr>
            <a:r>
              <a:t>Key Interpretation</a:t>
            </a:r>
          </a:p>
          <a:p>
            <a:pPr>
              <a:spcAft>
                <a:spcPts val="600"/>
              </a:spcAft>
              <a:defRPr sz="1000">
                <a:solidFill>
                  <a:srgbClr val="232B37"/>
                </a:solidFill>
              </a:defRPr>
            </a:pPr>
            <a:r>
              <a:t>• Margin falls from 39.0% with no discount to 13.9% at 26–30% discount.</a:t>
            </a:r>
          </a:p>
          <a:p>
            <a:pPr>
              <a:spcAft>
                <a:spcPts val="600"/>
              </a:spcAft>
              <a:defRPr sz="1000">
                <a:solidFill>
                  <a:srgbClr val="232B37"/>
                </a:solidFill>
              </a:defRPr>
            </a:pPr>
            <a:r>
              <a:t>• Use targeted discounts rather than broad high-percentage promotions to protect profitability.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653796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FashionWave | Retail Store Sales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37D8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9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7. Key Insights from the Power BI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58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</a:defRPr>
            </a:pPr>
            <a:r>
              <a:t>Concise findings that can be used directly in the report/presentation.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54406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300" b="1">
                <a:solidFill>
                  <a:srgbClr val="50368C"/>
                </a:solidFill>
              </a:defRPr>
            </a:pPr>
            <a:r>
              <a:t>Overall Performance</a:t>
            </a:r>
          </a:p>
          <a:p>
            <a:pPr>
              <a:defRPr sz="1100">
                <a:solidFill>
                  <a:srgbClr val="232B37"/>
                </a:solidFill>
              </a:defRPr>
            </a:pPr>
            <a:r>
              <a:t>₹40.14M sales with ₹12.77M profit and 31.82% margin.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43000"/>
            <a:ext cx="54406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300" b="1">
                <a:solidFill>
                  <a:srgbClr val="50368C"/>
                </a:solidFill>
              </a:defRPr>
            </a:pPr>
            <a:r>
              <a:t>Category Leader</a:t>
            </a:r>
          </a:p>
          <a:p>
            <a:pPr>
              <a:defRPr sz="1100">
                <a:solidFill>
                  <a:srgbClr val="232B37"/>
                </a:solidFill>
              </a:defRPr>
            </a:pPr>
            <a:r>
              <a:t>Women leads sales at ₹13.10M and profit at ₹4.17M.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743200"/>
            <a:ext cx="54406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300" b="1">
                <a:solidFill>
                  <a:srgbClr val="50368C"/>
                </a:solidFill>
              </a:defRPr>
            </a:pPr>
            <a:r>
              <a:t>Weekend Gap</a:t>
            </a:r>
          </a:p>
          <a:p>
            <a:pPr>
              <a:defRPr sz="1100">
                <a:solidFill>
                  <a:srgbClr val="232B37"/>
                </a:solidFill>
              </a:defRPr>
            </a:pPr>
            <a:r>
              <a:t>Weekend sales are ₹11.30M vs ₹28.85M weekdays; ratio = 0.39.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743200"/>
            <a:ext cx="54406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300" b="1">
                <a:solidFill>
                  <a:srgbClr val="50368C"/>
                </a:solidFill>
              </a:defRPr>
            </a:pPr>
            <a:r>
              <a:t>Product Opportunity</a:t>
            </a:r>
          </a:p>
          <a:p>
            <a:pPr>
              <a:defRPr sz="1100">
                <a:solidFill>
                  <a:srgbClr val="232B37"/>
                </a:solidFill>
              </a:defRPr>
            </a:pPr>
            <a:r>
              <a:t>Jeans is the highest-profit product at ₹2.20M.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343400"/>
            <a:ext cx="54406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300" b="1">
                <a:solidFill>
                  <a:srgbClr val="50368C"/>
                </a:solidFill>
              </a:defRPr>
            </a:pPr>
            <a:r>
              <a:t>Discount Effect</a:t>
            </a:r>
          </a:p>
          <a:p>
            <a:pPr>
              <a:defRPr sz="1100">
                <a:solidFill>
                  <a:srgbClr val="232B37"/>
                </a:solidFill>
              </a:defRPr>
            </a:pPr>
            <a:r>
              <a:t>Average discount is 10.43%; higher discount tiers show lower margins.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343400"/>
            <a:ext cx="54406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defRPr sz="1300" b="1">
                <a:solidFill>
                  <a:srgbClr val="50368C"/>
                </a:solidFill>
              </a:defRPr>
            </a:pPr>
            <a:r>
              <a:t>Store Opportunity</a:t>
            </a:r>
          </a:p>
          <a:p>
            <a:pPr>
              <a:defRPr sz="1100">
                <a:solidFill>
                  <a:srgbClr val="232B37"/>
                </a:solidFill>
              </a:defRPr>
            </a:pPr>
            <a:r>
              <a:t>Store sales range from about ₹0.55M to ₹1.02M.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653796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FashionWave | Retail Store Sales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37D8C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9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8. Recommendations &amp;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58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D"/>
                </a:solidFill>
              </a:defRPr>
            </a:pPr>
            <a:r>
              <a:t>Recommendations are based only on trends visible in the FashionWave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97280"/>
            <a:ext cx="5394960" cy="4526280"/>
          </a:xfrm>
          <a:prstGeom prst="roundRect">
            <a:avLst/>
          </a:prstGeom>
          <a:solidFill>
            <a:srgbClr val="F2F6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450" b="1">
                <a:solidFill>
                  <a:srgbClr val="192048"/>
                </a:solidFill>
              </a:defRPr>
            </a:pPr>
            <a:r>
              <a:t>Quick Wins</a:t>
            </a:r>
          </a:p>
          <a:p>
            <a:pPr>
              <a:spcAft>
                <a:spcPts val="600"/>
              </a:spcAft>
              <a:defRPr sz="1350">
                <a:solidFill>
                  <a:srgbClr val="232B37"/>
                </a:solidFill>
              </a:defRPr>
            </a:pPr>
            <a:r>
              <a:t>• Run targeted weekend campaigns around high-demand products and categories.</a:t>
            </a:r>
          </a:p>
          <a:p>
            <a:pPr>
              <a:spcAft>
                <a:spcPts val="600"/>
              </a:spcAft>
              <a:defRPr sz="1350">
                <a:solidFill>
                  <a:srgbClr val="232B37"/>
                </a:solidFill>
              </a:defRPr>
            </a:pPr>
            <a:r>
              <a:t>• Use Women and high-profit products such as Jeans as traffic-driving anchors.</a:t>
            </a:r>
          </a:p>
          <a:p>
            <a:pPr>
              <a:spcAft>
                <a:spcPts val="600"/>
              </a:spcAft>
              <a:defRPr sz="1350">
                <a:solidFill>
                  <a:srgbClr val="232B37"/>
                </a:solidFill>
              </a:defRPr>
            </a:pPr>
            <a:r>
              <a:t>• Review Kids category performance and test focused bundles or assortment changes.</a:t>
            </a:r>
          </a:p>
          <a:p>
            <a:pPr>
              <a:spcAft>
                <a:spcPts val="600"/>
              </a:spcAft>
              <a:defRPr sz="1350">
                <a:solidFill>
                  <a:srgbClr val="232B37"/>
                </a:solidFill>
              </a:defRPr>
            </a:pPr>
            <a:r>
              <a:t>• Prioritize the lowest-performing stores for local marketing and assortment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097280"/>
            <a:ext cx="5394960" cy="4526280"/>
          </a:xfrm>
          <a:prstGeom prst="roundRect">
            <a:avLst/>
          </a:prstGeom>
          <a:solidFill>
            <a:srgbClr val="F2F6FA"/>
          </a:solidFill>
          <a:ln>
            <a:solidFill>
              <a:srgbClr val="E0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09728" rtlCol="0" anchor="ctr"/>
          <a:lstStyle/>
          <a:p>
            <a:pPr algn="ctr">
              <a:defRPr sz="1450" b="1">
                <a:solidFill>
                  <a:srgbClr val="192048"/>
                </a:solidFill>
              </a:defRPr>
            </a:pPr>
            <a:r>
              <a:t>Long-Term Strategy</a:t>
            </a:r>
          </a:p>
          <a:p>
            <a:pPr>
              <a:spcAft>
                <a:spcPts val="600"/>
              </a:spcAft>
              <a:defRPr sz="1350">
                <a:solidFill>
                  <a:srgbClr val="232B37"/>
                </a:solidFill>
              </a:defRPr>
            </a:pPr>
            <a:r>
              <a:t>• Create a store-level performance monitoring routine in Power BI.</a:t>
            </a:r>
          </a:p>
          <a:p>
            <a:pPr>
              <a:spcAft>
                <a:spcPts val="600"/>
              </a:spcAft>
              <a:defRPr sz="1350">
                <a:solidFill>
                  <a:srgbClr val="232B37"/>
                </a:solidFill>
              </a:defRPr>
            </a:pPr>
            <a:r>
              <a:t>• Adopt discount guardrails and avoid unnecessarily deep discounts.</a:t>
            </a:r>
          </a:p>
          <a:p>
            <a:pPr>
              <a:spcAft>
                <a:spcPts val="600"/>
              </a:spcAft>
              <a:defRPr sz="1350">
                <a:solidFill>
                  <a:srgbClr val="232B37"/>
                </a:solidFill>
              </a:defRPr>
            </a:pPr>
            <a:r>
              <a:t>• Use category and product profitability—not sales alone—to guide promotions.</a:t>
            </a:r>
          </a:p>
          <a:p>
            <a:pPr>
              <a:spcAft>
                <a:spcPts val="600"/>
              </a:spcAft>
              <a:defRPr sz="1350">
                <a:solidFill>
                  <a:srgbClr val="232B37"/>
                </a:solidFill>
              </a:defRPr>
            </a:pPr>
            <a:r>
              <a:t>• Compare weekend performance regularly to track progress toward the 15% growth objective.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5806440"/>
            <a:ext cx="10972800" cy="502920"/>
          </a:xfrm>
          <a:prstGeom prst="roundRect">
            <a:avLst/>
          </a:prstGeom>
          <a:solidFill>
            <a:srgbClr val="19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t>Management focus: Grow weekend sales while protecting the 31.82% overall profit margin.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92240"/>
            <a:ext cx="11155680" cy="18288"/>
          </a:xfrm>
          <a:prstGeom prst="rect">
            <a:avLst/>
          </a:prstGeom>
          <a:solidFill>
            <a:srgbClr val="E0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653796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D8C"/>
                </a:solidFill>
              </a:defRPr>
            </a:pPr>
            <a:r>
              <a:t>FashionWave | Retail Store Sales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37D8C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872</Words>
  <Application>Microsoft Office PowerPoint</Application>
  <PresentationFormat>Widescreen</PresentationFormat>
  <Paragraphs>170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Mansha Pandey</cp:lastModifiedBy>
  <cp:revision>1</cp:revision>
  <dcterms:created xsi:type="dcterms:W3CDTF">2013-01-27T09:14:16Z</dcterms:created>
  <dcterms:modified xsi:type="dcterms:W3CDTF">2026-10-02T15:59:15Z</dcterms:modified>
  <cp:category/>
</cp:coreProperties>
</file>